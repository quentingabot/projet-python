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93" r:id="rId2"/>
    <p:sldId id="294" r:id="rId3"/>
    <p:sldId id="300" r:id="rId4"/>
    <p:sldId id="310" r:id="rId5"/>
    <p:sldId id="301" r:id="rId6"/>
    <p:sldId id="312" r:id="rId7"/>
    <p:sldId id="311" r:id="rId8"/>
    <p:sldId id="315" r:id="rId9"/>
    <p:sldId id="313" r:id="rId10"/>
    <p:sldId id="314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65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92672-2B7E-454B-9952-337A3AA60D5C}" type="datetimeFigureOut">
              <a:rPr lang="fr-FR" smtClean="0"/>
              <a:t>10/01/2021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DA945-9C13-4920-B146-A803DD0AAA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8934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60DC36-8EFA-4378-9855-E019C55AC472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170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60DC36-8EFA-4378-9855-E019C55AC472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633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60DC36-8EFA-4378-9855-E019C55AC472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8883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60DC36-8EFA-4378-9855-E019C55AC472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075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60DC36-8EFA-4378-9855-E019C55AC472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4183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60DC36-8EFA-4378-9855-E019C55AC472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45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60DC36-8EFA-4378-9855-E019C55AC472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5525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60DC36-8EFA-4378-9855-E019C55AC472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65773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60DC36-8EFA-4378-9855-E019C55AC472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075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60DC36-8EFA-4378-9855-E019C55AC472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418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F3E12-BFB2-4F06-93BB-C2C22345706D}" type="datetimeFigureOut">
              <a:rPr lang="fr-FR" smtClean="0"/>
              <a:t>10/01/2021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6C920-BBAE-451A-9505-36907A24E0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1774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F3E12-BFB2-4F06-93BB-C2C22345706D}" type="datetimeFigureOut">
              <a:rPr lang="fr-FR" smtClean="0"/>
              <a:t>10/01/2021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6C920-BBAE-451A-9505-36907A24E0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8240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F3E12-BFB2-4F06-93BB-C2C22345706D}" type="datetimeFigureOut">
              <a:rPr lang="fr-FR" smtClean="0"/>
              <a:t>10/01/2021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6C920-BBAE-451A-9505-36907A24E0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3244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F3E12-BFB2-4F06-93BB-C2C22345706D}" type="datetimeFigureOut">
              <a:rPr lang="fr-FR" smtClean="0"/>
              <a:t>10/01/2021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6C920-BBAE-451A-9505-36907A24E0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3560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F3E12-BFB2-4F06-93BB-C2C22345706D}" type="datetimeFigureOut">
              <a:rPr lang="fr-FR" smtClean="0"/>
              <a:t>10/01/2021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6C920-BBAE-451A-9505-36907A24E0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4723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F3E12-BFB2-4F06-93BB-C2C22345706D}" type="datetimeFigureOut">
              <a:rPr lang="fr-FR" smtClean="0"/>
              <a:t>10/01/2021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6C920-BBAE-451A-9505-36907A24E0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5489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F3E12-BFB2-4F06-93BB-C2C22345706D}" type="datetimeFigureOut">
              <a:rPr lang="fr-FR" smtClean="0"/>
              <a:t>10/01/2021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6C920-BBAE-451A-9505-36907A24E0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6098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F3E12-BFB2-4F06-93BB-C2C22345706D}" type="datetimeFigureOut">
              <a:rPr lang="fr-FR" smtClean="0"/>
              <a:t>10/01/2021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6C920-BBAE-451A-9505-36907A24E0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3788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F3E12-BFB2-4F06-93BB-C2C22345706D}" type="datetimeFigureOut">
              <a:rPr lang="fr-FR" smtClean="0"/>
              <a:t>10/01/2021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6C920-BBAE-451A-9505-36907A24E0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5015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F3E12-BFB2-4F06-93BB-C2C22345706D}" type="datetimeFigureOut">
              <a:rPr lang="fr-FR" smtClean="0"/>
              <a:t>10/01/2021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6C920-BBAE-451A-9505-36907A24E0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1930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F3E12-BFB2-4F06-93BB-C2C22345706D}" type="datetimeFigureOut">
              <a:rPr lang="fr-FR" smtClean="0"/>
              <a:t>10/01/2021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6C920-BBAE-451A-9505-36907A24E0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1519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BF3E12-BFB2-4F06-93BB-C2C22345706D}" type="datetimeFigureOut">
              <a:rPr lang="fr-FR" smtClean="0"/>
              <a:t>10/01/2021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F6C920-BBAE-451A-9505-36907A24E0C7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MSIPCMContentMarking" descr="{&quot;HashCode&quot;:-510168642,&quot;Placement&quot;:&quot;Footer&quot;}">
            <a:extLst>
              <a:ext uri="{FF2B5EF4-FFF2-40B4-BE49-F238E27FC236}">
                <a16:creationId xmlns:a16="http://schemas.microsoft.com/office/drawing/2014/main" id="{851226A3-F7A6-4149-A827-726A0DDACA8C}"/>
              </a:ext>
            </a:extLst>
          </p:cNvPr>
          <p:cNvSpPr txBox="1"/>
          <p:nvPr userDrawn="1"/>
        </p:nvSpPr>
        <p:spPr>
          <a:xfrm>
            <a:off x="0" y="6440626"/>
            <a:ext cx="1719930" cy="41737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000">
                <a:solidFill>
                  <a:srgbClr val="000000"/>
                </a:solidFill>
                <a:latin typeface="Calibri" panose="020F0502020204030204" pitchFamily="34" charset="0"/>
              </a:rPr>
              <a:t>
 Classification : Confidentiel </a:t>
            </a:r>
          </a:p>
        </p:txBody>
      </p:sp>
    </p:spTree>
    <p:extLst>
      <p:ext uri="{BB962C8B-B14F-4D97-AF65-F5344CB8AC3E}">
        <p14:creationId xmlns:p14="http://schemas.microsoft.com/office/powerpoint/2010/main" val="25670243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  <a:alpha val="9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9549" y="2363384"/>
            <a:ext cx="6232888" cy="1329595"/>
          </a:xfrm>
        </p:spPr>
        <p:txBody>
          <a:bodyPr wrap="square" lIns="0" tIns="0" rIns="0" bIns="0" rtlCol="0" anchor="t">
            <a:spAutoFit/>
          </a:bodyPr>
          <a:lstStyle/>
          <a:p>
            <a:r>
              <a:rPr lang="en-US" sz="48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 report</a:t>
            </a:r>
            <a:br>
              <a:rPr lang="en-US" sz="48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8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Python for Data Analysis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8E4E0270-516B-4802-B351-2587F4AD7214}"/>
              </a:ext>
            </a:extLst>
          </p:cNvPr>
          <p:cNvCxnSpPr>
            <a:cxnSpLocks/>
          </p:cNvCxnSpPr>
          <p:nvPr/>
        </p:nvCxnSpPr>
        <p:spPr>
          <a:xfrm>
            <a:off x="4853435" y="4000500"/>
            <a:ext cx="24851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FE6E087D-AD47-428E-8429-4BDEAE2E9CAB}"/>
              </a:ext>
            </a:extLst>
          </p:cNvPr>
          <p:cNvSpPr txBox="1"/>
          <p:nvPr/>
        </p:nvSpPr>
        <p:spPr>
          <a:xfrm>
            <a:off x="4328153" y="4380411"/>
            <a:ext cx="35356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70C0"/>
                </a:solidFill>
              </a:rPr>
              <a:t>Cédric HANSEN &amp; Quentin GABOT</a:t>
            </a:r>
          </a:p>
          <a:p>
            <a:pPr algn="ctr"/>
            <a:r>
              <a:rPr lang="fr-FR" dirty="0">
                <a:solidFill>
                  <a:srgbClr val="0070C0"/>
                </a:solidFill>
              </a:rPr>
              <a:t>DIA3</a:t>
            </a:r>
          </a:p>
          <a:p>
            <a:pPr algn="ctr"/>
            <a:r>
              <a:rPr lang="fr-FR" dirty="0">
                <a:solidFill>
                  <a:srgbClr val="0070C0"/>
                </a:solidFill>
              </a:rPr>
              <a:t>2020/2021</a:t>
            </a:r>
          </a:p>
        </p:txBody>
      </p:sp>
    </p:spTree>
    <p:extLst>
      <p:ext uri="{BB962C8B-B14F-4D97-AF65-F5344CB8AC3E}">
        <p14:creationId xmlns:p14="http://schemas.microsoft.com/office/powerpoint/2010/main" val="1561456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  <a:alpha val="90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3511" y="1001776"/>
            <a:ext cx="2301930" cy="8093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buClr>
                <a:schemeClr val="tx1"/>
              </a:buClr>
            </a:pPr>
            <a:r>
              <a:rPr lang="en-US" sz="4000" b="1" dirty="0">
                <a:solidFill>
                  <a:srgbClr val="FFFFFF"/>
                </a:solidFill>
              </a:rPr>
              <a:t>Summary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F066C862-71D6-453B-8085-AFCF715B0F4F}"/>
              </a:ext>
            </a:extLst>
          </p:cNvPr>
          <p:cNvSpPr txBox="1">
            <a:spLocks/>
          </p:cNvSpPr>
          <p:nvPr/>
        </p:nvSpPr>
        <p:spPr>
          <a:xfrm>
            <a:off x="1529032" y="2352243"/>
            <a:ext cx="5302071" cy="43306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28650" marR="0" lvl="0" indent="-4000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lang="en-US" sz="18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Discussions about the dataset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  <a:p>
            <a:pPr marL="1085850" marR="0" lvl="1" indent="-4000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alibri Light (En-têtes)"/>
                <a:ea typeface="+mn-ea"/>
                <a:cs typeface="+mn-cs"/>
              </a:rPr>
              <a:t>The initial assumptions
State of the art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28650" marR="0" lvl="0" indent="-4000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Representation &amp; prediction</a:t>
            </a:r>
          </a:p>
          <a:p>
            <a:pPr marL="1085850" marR="0" lvl="1" indent="-4000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600" dirty="0">
                <a:solidFill>
                  <a:srgbClr val="44546A">
                    <a:lumMod val="75000"/>
                  </a:srgbClr>
                </a:solidFill>
                <a:latin typeface="Calibri Light (En-têtes)"/>
              </a:rPr>
              <a:t>Understand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alibri Light (En-têtes)"/>
                <a:ea typeface="+mn-ea"/>
                <a:cs typeface="+mn-cs"/>
              </a:rPr>
              <a:t>the dataset via the graphs</a:t>
            </a:r>
          </a:p>
          <a:p>
            <a:pPr marL="1085850" lvl="1" indent="-400050" defTabSz="457200"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1600" dirty="0">
                <a:solidFill>
                  <a:srgbClr val="44546A">
                    <a:lumMod val="75000"/>
                  </a:srgbClr>
                </a:solidFill>
                <a:latin typeface="Calibri Light (En-têtes)"/>
              </a:rPr>
              <a:t>Preprocessing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Calibri Light (En-têtes)"/>
              <a:ea typeface="+mn-ea"/>
              <a:cs typeface="+mn-cs"/>
            </a:endParaRPr>
          </a:p>
          <a:p>
            <a:pPr marL="1085850" marR="0" lvl="1" indent="-4000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600" dirty="0">
                <a:solidFill>
                  <a:srgbClr val="44546A">
                    <a:lumMod val="75000"/>
                  </a:srgbClr>
                </a:solidFill>
                <a:latin typeface="Calibri Light (En-têtes)"/>
              </a:rPr>
              <a:t>The training phase</a:t>
            </a:r>
          </a:p>
          <a:p>
            <a:pPr marL="1085850" marR="0" lvl="1" indent="-4000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alibri Light (En-têtes)"/>
                <a:ea typeface="+mn-ea"/>
                <a:cs typeface="+mn-cs"/>
              </a:rPr>
              <a:t>The final tests</a:t>
            </a:r>
          </a:p>
          <a:p>
            <a:pPr marL="6858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28650" marR="0" lvl="0" indent="-4000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lang="en-US" sz="18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Computing the API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  <a:p>
            <a:pPr marL="1085850" marR="0" lvl="1" indent="-4000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alibri Light (En-têtes)"/>
                <a:ea typeface="+mn-ea"/>
                <a:cs typeface="+mn-cs"/>
              </a:rPr>
              <a:t>API Flask</a:t>
            </a:r>
          </a:p>
          <a:p>
            <a:pPr marL="1085850" marR="0" lvl="1" indent="-4000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600" dirty="0">
                <a:solidFill>
                  <a:srgbClr val="44546A">
                    <a:lumMod val="75000"/>
                  </a:srgbClr>
                </a:solidFill>
                <a:latin typeface="Calibri Light (En-têtes)"/>
              </a:rPr>
              <a:t>Results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6971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  <a:alpha val="90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4013" y="1001776"/>
            <a:ext cx="4920926" cy="8093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buClr>
                <a:schemeClr val="tx1"/>
              </a:buClr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initial assumptions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F066C862-71D6-453B-8085-AFCF715B0F4F}"/>
              </a:ext>
            </a:extLst>
          </p:cNvPr>
          <p:cNvSpPr txBox="1">
            <a:spLocks/>
          </p:cNvSpPr>
          <p:nvPr/>
        </p:nvSpPr>
        <p:spPr>
          <a:xfrm>
            <a:off x="1251919" y="2034309"/>
            <a:ext cx="9363421" cy="4703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re 1">
                <a:extLst>
                  <a:ext uri="{FF2B5EF4-FFF2-40B4-BE49-F238E27FC236}">
                    <a16:creationId xmlns:a16="http://schemas.microsoft.com/office/drawing/2014/main" id="{95601F42-C02A-4E8D-B0FB-89E5C3893A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5762" y="2509120"/>
                <a:ext cx="6921587" cy="407455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 lnSpcReduction="20000"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514350" marR="0" lvl="0" indent="-285750" algn="l" defTabSz="914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prstClr val="white"/>
                  </a:buClr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546A">
                        <a:lumMod val="75000"/>
                      </a:srgbClr>
                    </a:solidFill>
                    <a:effectLst/>
                    <a:uLnTx/>
                    <a:uFillTx/>
                    <a:latin typeface="Calibri Light" panose="020F0302020204030204"/>
                    <a:ea typeface="+mj-ea"/>
                    <a:cs typeface="+mj-cs"/>
                  </a:rPr>
                  <a:t>Our </a:t>
                </a:r>
                <a:r>
                  <a:rPr lang="en-US" sz="2000" dirty="0">
                    <a:solidFill>
                      <a:srgbClr val="44546A">
                        <a:lumMod val="75000"/>
                      </a:srgbClr>
                    </a:solidFill>
                    <a:latin typeface="Calibri Light" panose="020F0302020204030204"/>
                  </a:rPr>
                  <a:t>dataset is called the “Avila Bible”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lumMod val="75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endParaRPr>
              </a:p>
              <a:p>
                <a:pPr marL="971550" marR="0" lvl="1" indent="-28575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prstClr val="white"/>
                  </a:buClr>
                  <a:buSzTx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546A">
                        <a:lumMod val="75000"/>
                      </a:srgbClr>
                    </a:solidFill>
                    <a:effectLst/>
                    <a:uLnTx/>
                    <a:uFillTx/>
                    <a:latin typeface="Calibri Light" panose="020F0302020204030204"/>
                    <a:ea typeface="+mn-ea"/>
                    <a:cs typeface="+mn-cs"/>
                  </a:rPr>
                  <a:t>A corpus of texts written by 12 copyists</a:t>
                </a:r>
              </a:p>
              <a:p>
                <a:pPr marL="971550" lvl="1" indent="-285750" defTabSz="457200">
                  <a:spcAft>
                    <a:spcPts val="600"/>
                  </a:spcAft>
                  <a:buClr>
                    <a:prstClr val="white"/>
                  </a:buClr>
                  <a:buFont typeface="Wingdings" panose="05000000000000000000" pitchFamily="2" charset="2"/>
                  <a:buChar char="q"/>
                  <a:defRPr/>
                </a:pPr>
                <a:r>
                  <a:rPr lang="en-US" sz="1600" dirty="0">
                    <a:solidFill>
                      <a:srgbClr val="44546A">
                        <a:lumMod val="75000"/>
                      </a:srgbClr>
                    </a:solidFill>
                    <a:latin typeface="Calibri Light" panose="020F0302020204030204"/>
                  </a:rPr>
                  <a:t>The copyists are designated as a letter such as :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4546A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600" i="1" dirty="0" smtClean="0">
                        <a:solidFill>
                          <a:srgbClr val="44546A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1600" i="1" dirty="0">
                        <a:solidFill>
                          <a:srgbClr val="44546A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1600" i="1" dirty="0">
                        <a:solidFill>
                          <a:srgbClr val="44546A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1600" i="1" dirty="0">
                        <a:solidFill>
                          <a:srgbClr val="44546A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1600" i="1" dirty="0">
                        <a:solidFill>
                          <a:srgbClr val="44546A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1600" i="1" dirty="0">
                        <a:solidFill>
                          <a:srgbClr val="44546A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1600" i="1" dirty="0">
                        <a:solidFill>
                          <a:srgbClr val="44546A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pt-BR" sz="1600" i="1" dirty="0">
                        <a:solidFill>
                          <a:srgbClr val="44546A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1600" i="1" dirty="0">
                        <a:solidFill>
                          <a:srgbClr val="44546A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1600" i="1" dirty="0">
                        <a:solidFill>
                          <a:srgbClr val="44546A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1600" i="1" dirty="0">
                        <a:solidFill>
                          <a:srgbClr val="44546A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sz="1600" i="1" dirty="0">
                        <a:solidFill>
                          <a:srgbClr val="44546A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1600" i="1" dirty="0">
                        <a:solidFill>
                          <a:srgbClr val="44546A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1600" i="1" dirty="0">
                        <a:solidFill>
                          <a:srgbClr val="44546A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1600" i="1" dirty="0">
                        <a:solidFill>
                          <a:srgbClr val="44546A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pt-BR" sz="1600" i="1" dirty="0">
                        <a:solidFill>
                          <a:srgbClr val="44546A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1600" i="1" dirty="0">
                        <a:solidFill>
                          <a:srgbClr val="44546A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pt-BR" sz="1600" i="1" dirty="0">
                        <a:solidFill>
                          <a:srgbClr val="44546A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1600" i="1" dirty="0">
                        <a:solidFill>
                          <a:srgbClr val="44546A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pt-BR" sz="1600" i="1" dirty="0">
                        <a:solidFill>
                          <a:srgbClr val="44546A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1600" i="1" dirty="0">
                        <a:solidFill>
                          <a:srgbClr val="44546A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1600" i="1" dirty="0">
                        <a:solidFill>
                          <a:srgbClr val="44546A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1600" i="1" dirty="0" smtClean="0">
                        <a:solidFill>
                          <a:srgbClr val="44546A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1600" i="1" dirty="0" smtClean="0">
                        <a:solidFill>
                          <a:srgbClr val="44546A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685800" lvl="1" defTabSz="457200">
                  <a:spcAft>
                    <a:spcPts val="600"/>
                  </a:spcAft>
                  <a:buClr>
                    <a:prstClr val="white"/>
                  </a:buClr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lvl="0" indent="-285750" algn="l">
                  <a:spcAft>
                    <a:spcPts val="600"/>
                  </a:spcAft>
                  <a:buClr>
                    <a:prstClr val="white"/>
                  </a:buClr>
                  <a:buFont typeface="Wingdings" panose="05000000000000000000" pitchFamily="2" charset="2"/>
                  <a:buChar char="Ø"/>
                  <a:defRPr/>
                </a:pPr>
                <a:r>
                  <a:rPr lang="en-US" sz="2000" dirty="0">
                    <a:solidFill>
                      <a:srgbClr val="44546A">
                        <a:lumMod val="75000"/>
                      </a:srgbClr>
                    </a:solidFill>
                  </a:rPr>
                  <a:t>The dataset is described by its columns &amp; rows</a:t>
                </a:r>
              </a:p>
              <a:p>
                <a:pPr marL="971550" lvl="1" indent="-285750" defTabSz="457200">
                  <a:spcAft>
                    <a:spcPts val="600"/>
                  </a:spcAft>
                  <a:buClr>
                    <a:prstClr val="white"/>
                  </a:buClr>
                  <a:buFont typeface="Wingdings" panose="05000000000000000000" pitchFamily="2" charset="2"/>
                  <a:buChar char="q"/>
                  <a:defRPr/>
                </a:pPr>
                <a:r>
                  <a:rPr lang="en-US" sz="1600" dirty="0">
                    <a:solidFill>
                      <a:srgbClr val="44546A">
                        <a:lumMod val="75000"/>
                      </a:srgbClr>
                    </a:solidFill>
                    <a:latin typeface="Calibri Light" panose="020F0302020204030204"/>
                  </a:rPr>
                  <a:t>Rows (or samples) = 4 consecutives sentences from the corpus</a:t>
                </a:r>
              </a:p>
              <a:p>
                <a:pPr marL="971550" lvl="1" indent="-285750" defTabSz="457200">
                  <a:spcAft>
                    <a:spcPts val="600"/>
                  </a:spcAft>
                  <a:buClr>
                    <a:prstClr val="white"/>
                  </a:buClr>
                  <a:buFont typeface="Wingdings" panose="05000000000000000000" pitchFamily="2" charset="2"/>
                  <a:buChar char="q"/>
                  <a:defRPr/>
                </a:pPr>
                <a:r>
                  <a:rPr lang="en-US" sz="1600" dirty="0">
                    <a:solidFill>
                      <a:srgbClr val="44546A">
                        <a:lumMod val="75000"/>
                      </a:srgbClr>
                    </a:solidFill>
                    <a:latin typeface="Calibri Light" panose="020F0302020204030204"/>
                  </a:rPr>
                  <a:t>Columns (or features) = variables that distinguish and allow us to predict the patterns’ authors</a:t>
                </a:r>
              </a:p>
              <a:p>
                <a:pPr marL="685800" lvl="1" defTabSz="457200">
                  <a:spcAft>
                    <a:spcPts val="600"/>
                  </a:spcAft>
                  <a:buClr>
                    <a:prstClr val="white"/>
                  </a:buClr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285750" algn="l" defTabSz="914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prstClr val="white"/>
                  </a:buClr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546A">
                        <a:lumMod val="75000"/>
                      </a:srgbClr>
                    </a:solidFill>
                    <a:effectLst/>
                    <a:uLnTx/>
                    <a:uFillTx/>
                    <a:latin typeface="Calibri Light" panose="020F0302020204030204"/>
                    <a:ea typeface="+mj-ea"/>
                    <a:cs typeface="+mj-cs"/>
                  </a:rPr>
                  <a:t>The dataset</a:t>
                </a:r>
                <a:r>
                  <a:rPr lang="en-US" sz="2000" dirty="0">
                    <a:solidFill>
                      <a:srgbClr val="44546A">
                        <a:lumMod val="75000"/>
                      </a:srgbClr>
                    </a:solidFill>
                    <a:latin typeface="Calibri Light" panose="020F0302020204030204"/>
                  </a:rPr>
                  <a:t> is split between 2 subsets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lumMod val="75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endParaRPr>
              </a:p>
              <a:p>
                <a:pPr marL="971550" lvl="1" indent="-285750" defTabSz="457200">
                  <a:spcAft>
                    <a:spcPts val="600"/>
                  </a:spcAft>
                  <a:buClr>
                    <a:prstClr val="white"/>
                  </a:buClr>
                  <a:buFont typeface="Wingdings" panose="05000000000000000000" pitchFamily="2" charset="2"/>
                  <a:buChar char="q"/>
                  <a:defRPr/>
                </a:pPr>
                <a:r>
                  <a:rPr lang="en-US" sz="1600" dirty="0">
                    <a:solidFill>
                      <a:srgbClr val="44546A">
                        <a:lumMod val="75000"/>
                      </a:srgbClr>
                    </a:solidFill>
                    <a:latin typeface="Calibri Light" panose="020F0302020204030204"/>
                  </a:rPr>
                  <a:t>The first one is the “train set” with 10430 samples</a:t>
                </a:r>
              </a:p>
              <a:p>
                <a:pPr marL="971550" marR="0" lvl="1" indent="-28575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prstClr val="white"/>
                  </a:buClr>
                  <a:buSzTx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546A">
                        <a:lumMod val="75000"/>
                      </a:srgbClr>
                    </a:solidFill>
                    <a:effectLst/>
                    <a:uLnTx/>
                    <a:uFillTx/>
                    <a:latin typeface="Calibri Light" panose="020F0302020204030204"/>
                    <a:ea typeface="+mn-ea"/>
                    <a:cs typeface="+mn-cs"/>
                  </a:rPr>
                  <a:t>We will train our models on this dataset</a:t>
                </a:r>
              </a:p>
              <a:p>
                <a:pPr marL="971550" lvl="1" indent="-285750" defTabSz="457200">
                  <a:spcAft>
                    <a:spcPts val="600"/>
                  </a:spcAft>
                  <a:buClr>
                    <a:prstClr val="white"/>
                  </a:buClr>
                  <a:buFont typeface="Wingdings" panose="05000000000000000000" pitchFamily="2" charset="2"/>
                  <a:buChar char="q"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546A">
                        <a:lumMod val="75000"/>
                      </a:srgbClr>
                    </a:solidFill>
                    <a:effectLst/>
                    <a:uLnTx/>
                    <a:uFillTx/>
                    <a:latin typeface="Calibri Light" panose="020F0302020204030204"/>
                    <a:ea typeface="+mn-ea"/>
                    <a:cs typeface="+mn-cs"/>
                  </a:rPr>
                  <a:t>The second is the “test set” </a:t>
                </a:r>
                <a:r>
                  <a:rPr lang="en-US" sz="1600" dirty="0">
                    <a:solidFill>
                      <a:srgbClr val="44546A">
                        <a:lumMod val="75000"/>
                      </a:srgbClr>
                    </a:solidFill>
                    <a:latin typeface="Calibri Light" panose="020F0302020204030204"/>
                  </a:rPr>
                  <a:t>with 10437 samples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lumMod val="75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endParaRPr>
              </a:p>
              <a:p>
                <a:pPr marL="971550" marR="0" lvl="1" indent="-28575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prstClr val="white"/>
                  </a:buClr>
                  <a:buSzTx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546A">
                        <a:lumMod val="75000"/>
                      </a:srgbClr>
                    </a:solidFill>
                    <a:effectLst/>
                    <a:uLnTx/>
                    <a:uFillTx/>
                    <a:latin typeface="Calibri Light" panose="020F0302020204030204"/>
                    <a:ea typeface="+mn-ea"/>
                    <a:cs typeface="+mn-cs"/>
                  </a:rPr>
                  <a:t>We will make our finals predictions on it : but which prediction ?</a:t>
                </a:r>
                <a:endParaRPr lang="en-US" sz="1600" dirty="0">
                  <a:solidFill>
                    <a:srgbClr val="44546A">
                      <a:lumMod val="75000"/>
                    </a:srgbClr>
                  </a:solidFill>
                  <a:latin typeface="Calibri Light" panose="020F0302020204030204"/>
                </a:endParaRPr>
              </a:p>
            </p:txBody>
          </p:sp>
        </mc:Choice>
        <mc:Fallback xmlns="">
          <p:sp>
            <p:nvSpPr>
              <p:cNvPr id="10" name="Titre 1">
                <a:extLst>
                  <a:ext uri="{FF2B5EF4-FFF2-40B4-BE49-F238E27FC236}">
                    <a16:creationId xmlns:a16="http://schemas.microsoft.com/office/drawing/2014/main" id="{95601F42-C02A-4E8D-B0FB-89E5C3893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762" y="2509120"/>
                <a:ext cx="6921587" cy="4074559"/>
              </a:xfrm>
              <a:prstGeom prst="rect">
                <a:avLst/>
              </a:prstGeom>
              <a:blipFill>
                <a:blip r:embed="rId3"/>
                <a:stretch>
                  <a:fillRect t="-59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Pin en Writing the Codex">
            <a:extLst>
              <a:ext uri="{FF2B5EF4-FFF2-40B4-BE49-F238E27FC236}">
                <a16:creationId xmlns:a16="http://schemas.microsoft.com/office/drawing/2014/main" id="{E5457052-0D90-4621-B2C8-BEFFD736B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4939" y="2543175"/>
            <a:ext cx="2551091" cy="3622851"/>
          </a:xfrm>
          <a:prstGeom prst="rect">
            <a:avLst/>
          </a:prstGeom>
          <a:noFill/>
          <a:ln w="28575">
            <a:solidFill>
              <a:srgbClr val="3265BE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1797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  <a:alpha val="90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93368" y="1000145"/>
            <a:ext cx="3202216" cy="8093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buClr>
                <a:schemeClr val="tx1"/>
              </a:buClr>
            </a:pPr>
            <a:r>
              <a:rPr lang="en-US" sz="4000" b="1" dirty="0">
                <a:solidFill>
                  <a:srgbClr val="FFFFFF"/>
                </a:solidFill>
              </a:rPr>
              <a:t>State of the art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F066C862-71D6-453B-8085-AFCF715B0F4F}"/>
              </a:ext>
            </a:extLst>
          </p:cNvPr>
          <p:cNvSpPr txBox="1">
            <a:spLocks/>
          </p:cNvSpPr>
          <p:nvPr/>
        </p:nvSpPr>
        <p:spPr>
          <a:xfrm>
            <a:off x="1251919" y="2034309"/>
            <a:ext cx="9363421" cy="4703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re 1">
                <a:extLst>
                  <a:ext uri="{FF2B5EF4-FFF2-40B4-BE49-F238E27FC236}">
                    <a16:creationId xmlns:a16="http://schemas.microsoft.com/office/drawing/2014/main" id="{95601F42-C02A-4E8D-B0FB-89E5C3893A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5762" y="2509120"/>
                <a:ext cx="9492175" cy="407455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85000" lnSpcReduction="20000"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514350" marR="0" lvl="0" indent="-285750" algn="l" defTabSz="914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prstClr val="white"/>
                  </a:buClr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546A">
                        <a:lumMod val="75000"/>
                      </a:srgbClr>
                    </a:solidFill>
                    <a:effectLst/>
                    <a:uLnTx/>
                    <a:uFillTx/>
                    <a:latin typeface="Calibri Light" panose="020F0302020204030204"/>
                    <a:ea typeface="+mj-ea"/>
                    <a:cs typeface="+mj-cs"/>
                  </a:rPr>
                  <a:t>The nature of </a:t>
                </a:r>
                <a:r>
                  <a:rPr lang="en-US" sz="2000" dirty="0">
                    <a:solidFill>
                      <a:srgbClr val="44546A">
                        <a:lumMod val="75000"/>
                      </a:srgbClr>
                    </a:solidFill>
                    <a:latin typeface="Calibri Light" panose="020F0302020204030204"/>
                  </a:rPr>
                  <a:t>the prediction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lumMod val="75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endParaRPr>
              </a:p>
              <a:p>
                <a:pPr marL="971550" marR="0" lvl="1" indent="-28575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prstClr val="white"/>
                  </a:buClr>
                  <a:buSzTx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lang="en-US" sz="1600" dirty="0">
                    <a:solidFill>
                      <a:srgbClr val="44546A">
                        <a:lumMod val="75000"/>
                      </a:srgbClr>
                    </a:solidFill>
                    <a:latin typeface="Calibri Light" panose="020F0302020204030204"/>
                  </a:rPr>
                  <a:t>Our objective is to assign each row from the test set to an author</a:t>
                </a:r>
              </a:p>
              <a:p>
                <a:pPr marL="971550" marR="0" lvl="1" indent="-28575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prstClr val="white"/>
                  </a:buClr>
                  <a:buSzTx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lang="en-US" sz="1600" dirty="0">
                    <a:solidFill>
                      <a:srgbClr val="44546A">
                        <a:lumMod val="75000"/>
                      </a:srgbClr>
                    </a:solidFill>
                    <a:latin typeface="Calibri Light" panose="020F0302020204030204"/>
                  </a:rPr>
                  <a:t>This assignation will be made by a model trained previously on the train set</a:t>
                </a:r>
              </a:p>
              <a:p>
                <a:pPr marL="685800" lvl="1" defTabSz="457200">
                  <a:spcAft>
                    <a:spcPts val="600"/>
                  </a:spcAft>
                  <a:buClr>
                    <a:prstClr val="white"/>
                  </a:buClr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lvl="0" indent="-285750" algn="l">
                  <a:spcAft>
                    <a:spcPts val="600"/>
                  </a:spcAft>
                  <a:buClr>
                    <a:prstClr val="white"/>
                  </a:buClr>
                  <a:buFont typeface="Wingdings" panose="05000000000000000000" pitchFamily="2" charset="2"/>
                  <a:buChar char="Ø"/>
                  <a:defRPr/>
                </a:pPr>
                <a:r>
                  <a:rPr lang="en-US" sz="2000" dirty="0">
                    <a:solidFill>
                      <a:srgbClr val="44546A">
                        <a:lumMod val="75000"/>
                      </a:srgbClr>
                    </a:solidFill>
                  </a:rPr>
                  <a:t>The various prediction techniques </a:t>
                </a:r>
              </a:p>
              <a:p>
                <a:pPr marL="971550" lvl="1" indent="-285750" defTabSz="457200">
                  <a:spcAft>
                    <a:spcPts val="600"/>
                  </a:spcAft>
                  <a:buClr>
                    <a:prstClr val="white"/>
                  </a:buClr>
                  <a:buFont typeface="Wingdings" panose="05000000000000000000" pitchFamily="2" charset="2"/>
                  <a:buChar char="q"/>
                  <a:defRPr/>
                </a:pPr>
                <a:r>
                  <a:rPr lang="en-US" sz="1600" dirty="0">
                    <a:solidFill>
                      <a:srgbClr val="44546A">
                        <a:lumMod val="75000"/>
                      </a:srgbClr>
                    </a:solidFill>
                    <a:latin typeface="Calibri Light" panose="020F0302020204030204"/>
                  </a:rPr>
                  <a:t>Machine Learning is divided into two categories : supervised learning &amp; unsupervised learning</a:t>
                </a:r>
              </a:p>
              <a:p>
                <a:pPr marL="971550" lvl="1" indent="-285750" defTabSz="457200">
                  <a:spcAft>
                    <a:spcPts val="600"/>
                  </a:spcAft>
                  <a:buClr>
                    <a:prstClr val="white"/>
                  </a:buClr>
                  <a:buFont typeface="Wingdings" panose="05000000000000000000" pitchFamily="2" charset="2"/>
                  <a:buChar char="q"/>
                  <a:defRPr/>
                </a:pPr>
                <a:r>
                  <a:rPr lang="en-US" sz="1600" dirty="0">
                    <a:solidFill>
                      <a:srgbClr val="44546A">
                        <a:lumMod val="75000"/>
                      </a:srgbClr>
                    </a:solidFill>
                    <a:latin typeface="Calibri Light" panose="020F0302020204030204"/>
                  </a:rPr>
                  <a:t>As we possess the output data, we are in the first situation : supervised learning</a:t>
                </a:r>
              </a:p>
              <a:p>
                <a:pPr marL="971550" lvl="1" indent="-285750" defTabSz="457200">
                  <a:spcAft>
                    <a:spcPts val="600"/>
                  </a:spcAft>
                  <a:buClr>
                    <a:prstClr val="white"/>
                  </a:buClr>
                  <a:buFont typeface="Wingdings" panose="05000000000000000000" pitchFamily="2" charset="2"/>
                  <a:buChar char="q"/>
                  <a:defRPr/>
                </a:pPr>
                <a:r>
                  <a:rPr lang="en-US" sz="1600" dirty="0">
                    <a:solidFill>
                      <a:srgbClr val="44546A">
                        <a:lumMod val="75000"/>
                      </a:srgbClr>
                    </a:solidFill>
                    <a:latin typeface="Calibri Light" panose="020F0302020204030204"/>
                  </a:rPr>
                  <a:t>Supervised learning is then divided into regression &amp; classification</a:t>
                </a:r>
              </a:p>
              <a:p>
                <a:pPr marL="971550" lvl="1" indent="-285750" defTabSz="457200">
                  <a:spcAft>
                    <a:spcPts val="600"/>
                  </a:spcAft>
                  <a:buClr>
                    <a:prstClr val="white"/>
                  </a:buClr>
                  <a:buFont typeface="Wingdings" panose="05000000000000000000" pitchFamily="2" charset="2"/>
                  <a:buChar char="q"/>
                  <a:defRPr/>
                </a:pPr>
                <a:r>
                  <a:rPr lang="en-US" sz="1600" dirty="0">
                    <a:solidFill>
                      <a:srgbClr val="44546A">
                        <a:lumMod val="75000"/>
                      </a:srgbClr>
                    </a:solidFill>
                    <a:latin typeface="Calibri Light" panose="020F0302020204030204"/>
                  </a:rPr>
                  <a:t>As the response variable is qualitative, we are in the latter situation : classification</a:t>
                </a:r>
              </a:p>
              <a:p>
                <a:pPr marL="685800" lvl="1" defTabSz="457200">
                  <a:spcAft>
                    <a:spcPts val="600"/>
                  </a:spcAft>
                  <a:buClr>
                    <a:prstClr val="white"/>
                  </a:buClr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514350" marR="0" lvl="0" indent="-285750" algn="l" defTabSz="914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prstClr val="white"/>
                  </a:buClr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546A">
                        <a:lumMod val="75000"/>
                      </a:srgbClr>
                    </a:solidFill>
                    <a:effectLst/>
                    <a:uLnTx/>
                    <a:uFillTx/>
                    <a:latin typeface="Calibri Light" panose="020F0302020204030204"/>
                    <a:ea typeface="+mj-ea"/>
                    <a:cs typeface="+mj-cs"/>
                  </a:rPr>
                  <a:t>The </a:t>
                </a:r>
                <a:r>
                  <a:rPr lang="en-US" sz="2000" dirty="0">
                    <a:solidFill>
                      <a:srgbClr val="44546A">
                        <a:lumMod val="75000"/>
                      </a:srgbClr>
                    </a:solidFill>
                    <a:latin typeface="Calibri Light" panose="020F0302020204030204"/>
                  </a:rPr>
                  <a:t>classification models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>
                      <a:lumMod val="75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j-ea"/>
                  <a:cs typeface="+mj-cs"/>
                </a:endParaRPr>
              </a:p>
              <a:p>
                <a:pPr marL="971550" lvl="1" indent="-285750" defTabSz="457200">
                  <a:spcAft>
                    <a:spcPts val="600"/>
                  </a:spcAft>
                  <a:buClr>
                    <a:prstClr val="white"/>
                  </a:buClr>
                  <a:buFont typeface="Wingdings" panose="05000000000000000000" pitchFamily="2" charset="2"/>
                  <a:buChar char="q"/>
                  <a:defRPr/>
                </a:pPr>
                <a:r>
                  <a:rPr lang="en-US" sz="1600" dirty="0">
                    <a:solidFill>
                      <a:srgbClr val="44546A">
                        <a:lumMod val="75000"/>
                      </a:srgbClr>
                    </a:solidFill>
                    <a:latin typeface="Calibri Light" panose="020F0302020204030204"/>
                  </a:rPr>
                  <a:t>The classification is a very wide and rich field in terms of possibilities</a:t>
                </a:r>
              </a:p>
              <a:p>
                <a:pPr marL="971550" lvl="1" indent="-285750" defTabSz="457200">
                  <a:spcAft>
                    <a:spcPts val="600"/>
                  </a:spcAft>
                  <a:buClr>
                    <a:prstClr val="white"/>
                  </a:buClr>
                  <a:buFont typeface="Wingdings" panose="05000000000000000000" pitchFamily="2" charset="2"/>
                  <a:buChar char="q"/>
                  <a:defRPr/>
                </a:pPr>
                <a:r>
                  <a:rPr lang="en-US" sz="1600" dirty="0">
                    <a:solidFill>
                      <a:srgbClr val="44546A">
                        <a:lumMod val="75000"/>
                      </a:srgbClr>
                    </a:solidFill>
                    <a:latin typeface="Calibri Light" panose="020F0302020204030204"/>
                  </a:rPr>
                  <a:t>For this problem, we have retained some of the most famous and effective models</a:t>
                </a:r>
              </a:p>
              <a:p>
                <a:pPr marL="971550" lvl="1" indent="-285750" defTabSz="457200">
                  <a:spcAft>
                    <a:spcPts val="600"/>
                  </a:spcAft>
                  <a:buClr>
                    <a:prstClr val="white"/>
                  </a:buClr>
                  <a:buFont typeface="Wingdings" panose="05000000000000000000" pitchFamily="2" charset="2"/>
                  <a:buChar char="q"/>
                  <a:defRPr/>
                </a:pPr>
                <a:r>
                  <a:rPr lang="en-US" sz="1600" dirty="0">
                    <a:solidFill>
                      <a:srgbClr val="44546A">
                        <a:lumMod val="75000"/>
                      </a:srgbClr>
                    </a:solidFill>
                    <a:latin typeface="Calibri Light" panose="020F0302020204030204"/>
                  </a:rPr>
                  <a:t>Logistic Regression, KNN, Random Forest, Support Vectors Machines &amp; Naïve Bayes</a:t>
                </a:r>
              </a:p>
              <a:p>
                <a:pPr marL="971550" lvl="1" indent="-285750" defTabSz="457200">
                  <a:spcAft>
                    <a:spcPts val="600"/>
                  </a:spcAft>
                  <a:buClr>
                    <a:prstClr val="white"/>
                  </a:buClr>
                  <a:buFont typeface="Wingdings" panose="05000000000000000000" pitchFamily="2" charset="2"/>
                  <a:buChar char="q"/>
                  <a:defRPr/>
                </a:pPr>
                <a:r>
                  <a:rPr lang="en-US" sz="1600" dirty="0">
                    <a:solidFill>
                      <a:srgbClr val="44546A">
                        <a:lumMod val="75000"/>
                      </a:srgbClr>
                    </a:solidFill>
                    <a:latin typeface="Calibri Light" panose="020F0302020204030204"/>
                  </a:rPr>
                  <a:t>We will select the one with the best accuracy i.e., the best ratio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solidFill>
                              <a:srgbClr val="44546A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0" i="1" smtClean="0">
                            <a:solidFill>
                              <a:srgbClr val="44546A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𝑔𝑜𝑜𝑑</m:t>
                        </m:r>
                        <m:r>
                          <a:rPr lang="fr-FR" sz="1600" b="0" i="1" smtClean="0">
                            <a:solidFill>
                              <a:srgbClr val="44546A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1600" b="0" i="1" smtClean="0">
                            <a:solidFill>
                              <a:srgbClr val="44546A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𝑝𝑟𝑒𝑑𝑖𝑐𝑡𝑖𝑜𝑛</m:t>
                        </m:r>
                      </m:num>
                      <m:den>
                        <m:r>
                          <a:rPr lang="fr-FR" sz="1600" b="0" i="1" smtClean="0">
                            <a:solidFill>
                              <a:srgbClr val="44546A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fr-FR" sz="1600" b="0" i="1" smtClean="0">
                            <a:solidFill>
                              <a:srgbClr val="44546A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1600" b="0" i="1" smtClean="0">
                            <a:solidFill>
                              <a:srgbClr val="44546A">
                                <a:lumMod val="7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𝑝𝑟𝑒𝑑𝑖𝑐𝑡𝑖𝑜𝑛</m:t>
                        </m:r>
                      </m:den>
                    </m:f>
                  </m:oMath>
                </a14:m>
                <a:endParaRPr lang="en-US" sz="1600" dirty="0">
                  <a:solidFill>
                    <a:srgbClr val="44546A">
                      <a:lumMod val="75000"/>
                    </a:srgbClr>
                  </a:solidFill>
                  <a:latin typeface="Calibri Light" panose="020F0302020204030204"/>
                </a:endParaRPr>
              </a:p>
            </p:txBody>
          </p:sp>
        </mc:Choice>
        <mc:Fallback xmlns="">
          <p:sp>
            <p:nvSpPr>
              <p:cNvPr id="10" name="Titre 1">
                <a:extLst>
                  <a:ext uri="{FF2B5EF4-FFF2-40B4-BE49-F238E27FC236}">
                    <a16:creationId xmlns:a16="http://schemas.microsoft.com/office/drawing/2014/main" id="{95601F42-C02A-4E8D-B0FB-89E5C3893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762" y="2509120"/>
                <a:ext cx="9492175" cy="4074559"/>
              </a:xfrm>
              <a:prstGeom prst="rect">
                <a:avLst/>
              </a:prstGeom>
              <a:blipFill>
                <a:blip r:embed="rId3"/>
                <a:stretch>
                  <a:fillRect t="-59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6005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  <a:alpha val="90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8202" y="1001776"/>
            <a:ext cx="7872548" cy="8093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buClr>
                <a:schemeClr val="tx1"/>
              </a:buClr>
            </a:pPr>
            <a:r>
              <a:rPr lang="en-US" sz="4000" b="1" dirty="0">
                <a:solidFill>
                  <a:srgbClr val="FFFFFF"/>
                </a:solidFill>
              </a:rPr>
              <a:t>Understand the dataset via the graphs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F066C862-71D6-453B-8085-AFCF715B0F4F}"/>
              </a:ext>
            </a:extLst>
          </p:cNvPr>
          <p:cNvSpPr txBox="1">
            <a:spLocks/>
          </p:cNvSpPr>
          <p:nvPr/>
        </p:nvSpPr>
        <p:spPr>
          <a:xfrm>
            <a:off x="1251919" y="2034309"/>
            <a:ext cx="9363421" cy="4703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95601F42-C02A-4E8D-B0FB-89E5C3893A61}"/>
              </a:ext>
            </a:extLst>
          </p:cNvPr>
          <p:cNvSpPr txBox="1">
            <a:spLocks/>
          </p:cNvSpPr>
          <p:nvPr/>
        </p:nvSpPr>
        <p:spPr>
          <a:xfrm>
            <a:off x="1251918" y="2543175"/>
            <a:ext cx="7009475" cy="40492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marR="0" lvl="0" indent="-2857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0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The data visualization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We decide to help our comprehension of the dataset with some graphs</a:t>
            </a: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6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We have decided to implement three major graphs : boxplots, heatmap &amp; </a:t>
            </a:r>
            <a:r>
              <a:rPr lang="en-US" sz="1600" dirty="0" err="1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pairplot</a:t>
            </a:r>
            <a:endParaRPr lang="en-US" sz="1600" dirty="0">
              <a:solidFill>
                <a:srgbClr val="44546A">
                  <a:lumMod val="75000"/>
                </a:srgbClr>
              </a:solidFill>
              <a:latin typeface="Calibri Light" panose="020F0302020204030204"/>
            </a:endParaRPr>
          </a:p>
          <a:p>
            <a:pPr marL="685800" marR="0" lvl="1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0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The consequences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6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We have understood that the classes’ distribution is inequal</a:t>
            </a: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6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Thus, our model will provide way more precision than a random classifier</a:t>
            </a:r>
          </a:p>
          <a:p>
            <a:pPr marL="971550" lvl="1" indent="-285750" defTabSz="457200">
              <a:spcAft>
                <a:spcPts val="600"/>
              </a:spcAft>
              <a:buClr>
                <a:prstClr val="white"/>
              </a:buClr>
              <a:buFont typeface="Wingdings" panose="05000000000000000000" pitchFamily="2" charset="2"/>
              <a:buChar char="q"/>
              <a:defRPr/>
            </a:pPr>
            <a:r>
              <a:rPr lang="en-US" sz="16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We have discovered that there was little to no relation between variables except for the last one : “modular ratio/interlinear spacing”</a:t>
            </a:r>
          </a:p>
          <a:p>
            <a:pPr marL="971550" lvl="1" indent="-285750" defTabSz="457200">
              <a:spcAft>
                <a:spcPts val="600"/>
              </a:spcAft>
              <a:buClr>
                <a:prstClr val="white"/>
              </a:buClr>
              <a:buFont typeface="Wingdings" panose="05000000000000000000" pitchFamily="2" charset="2"/>
              <a:buChar char="q"/>
              <a:defRPr/>
            </a:pPr>
            <a:r>
              <a:rPr lang="en-US" sz="16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Indeed, this variable is the combination of two other variables</a:t>
            </a:r>
          </a:p>
          <a:p>
            <a:pPr marL="971550" lvl="1" indent="-285750" defTabSz="457200">
              <a:spcAft>
                <a:spcPts val="600"/>
              </a:spcAft>
              <a:buClr>
                <a:prstClr val="white"/>
              </a:buClr>
              <a:buFont typeface="Wingdings" panose="05000000000000000000" pitchFamily="2" charset="2"/>
              <a:buChar char="q"/>
              <a:defRPr/>
            </a:pPr>
            <a:r>
              <a:rPr lang="en-US" sz="16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As such, we have decided to drop this variable</a:t>
            </a: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97B260C-CA4A-4C23-ACED-13976DED5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990" y="3209703"/>
            <a:ext cx="3677163" cy="2353003"/>
          </a:xfrm>
          <a:prstGeom prst="rect">
            <a:avLst/>
          </a:prstGeom>
          <a:ln w="28575">
            <a:solidFill>
              <a:srgbClr val="3265BE"/>
            </a:solidFill>
          </a:ln>
        </p:spPr>
      </p:pic>
    </p:spTree>
    <p:extLst>
      <p:ext uri="{BB962C8B-B14F-4D97-AF65-F5344CB8AC3E}">
        <p14:creationId xmlns:p14="http://schemas.microsoft.com/office/powerpoint/2010/main" val="2962526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  <a:alpha val="90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2777" y="1001776"/>
            <a:ext cx="3023398" cy="8093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buClr>
                <a:schemeClr val="tx1"/>
              </a:buClr>
            </a:pPr>
            <a:r>
              <a:rPr lang="en-US" sz="4000" b="1" dirty="0">
                <a:solidFill>
                  <a:srgbClr val="FFFFFF"/>
                </a:solidFill>
              </a:rPr>
              <a:t>Preprocessing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F066C862-71D6-453B-8085-AFCF715B0F4F}"/>
              </a:ext>
            </a:extLst>
          </p:cNvPr>
          <p:cNvSpPr txBox="1">
            <a:spLocks/>
          </p:cNvSpPr>
          <p:nvPr/>
        </p:nvSpPr>
        <p:spPr>
          <a:xfrm>
            <a:off x="1251919" y="2034309"/>
            <a:ext cx="9363421" cy="4703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95601F42-C02A-4E8D-B0FB-89E5C3893A61}"/>
              </a:ext>
            </a:extLst>
          </p:cNvPr>
          <p:cNvSpPr txBox="1">
            <a:spLocks/>
          </p:cNvSpPr>
          <p:nvPr/>
        </p:nvSpPr>
        <p:spPr>
          <a:xfrm>
            <a:off x="1251918" y="2543175"/>
            <a:ext cx="7009475" cy="40492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marR="0" lvl="0" indent="-2857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0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The need for preprocessing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6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If we directly jump into the training phase, we might skip some precious steps in order to deliver the best prediction possible</a:t>
            </a: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6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For example, the data visualization has informed us that the variables weren’t scaled</a:t>
            </a: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6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Thus, if we would have started the training phase without scaling the variables, the prediction would have suffered from this flaw </a:t>
            </a:r>
          </a:p>
          <a:p>
            <a:pPr marL="685800" marR="0" lvl="1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0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The preprocessing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6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We have scaled the data like explained previously</a:t>
            </a: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We have checked for any NAN values in order to treat this problem</a:t>
            </a: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6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As there were none, we didn’t have to propose a solution</a:t>
            </a:r>
          </a:p>
        </p:txBody>
      </p:sp>
    </p:spTree>
    <p:extLst>
      <p:ext uri="{BB962C8B-B14F-4D97-AF65-F5344CB8AC3E}">
        <p14:creationId xmlns:p14="http://schemas.microsoft.com/office/powerpoint/2010/main" val="3492509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  <a:alpha val="90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F066C862-71D6-453B-8085-AFCF715B0F4F}"/>
              </a:ext>
            </a:extLst>
          </p:cNvPr>
          <p:cNvSpPr txBox="1">
            <a:spLocks/>
          </p:cNvSpPr>
          <p:nvPr/>
        </p:nvSpPr>
        <p:spPr>
          <a:xfrm>
            <a:off x="1251919" y="2034309"/>
            <a:ext cx="9363421" cy="4703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95601F42-C02A-4E8D-B0FB-89E5C3893A61}"/>
              </a:ext>
            </a:extLst>
          </p:cNvPr>
          <p:cNvSpPr txBox="1">
            <a:spLocks/>
          </p:cNvSpPr>
          <p:nvPr/>
        </p:nvSpPr>
        <p:spPr>
          <a:xfrm>
            <a:off x="1251918" y="2543175"/>
            <a:ext cx="7009475" cy="4194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marR="0" lvl="0" indent="-2857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0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The protocol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6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The training phase will be divided into 5 phases corresponding to the 5 models that we will train</a:t>
            </a: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6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Each phase we follow the exact same process : we compute the naïve model, we tune the hyperparameters thanks to the validation curve in order to determine which one is interesting to manipulate and we finally use a </a:t>
            </a:r>
            <a:r>
              <a:rPr lang="en-US" sz="1600" dirty="0" err="1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RandomSearchCV</a:t>
            </a:r>
            <a:r>
              <a:rPr lang="en-US" sz="16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 to determine the best values for each hyperparameters</a:t>
            </a:r>
          </a:p>
          <a:p>
            <a:pPr marL="685800" marR="0" lvl="1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0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The validation curve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The validation curve allows </a:t>
            </a:r>
            <a:r>
              <a:rPr lang="en-US" sz="16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us to visualize a more precise interval for each quantitative hyperparameters in order to save us time and gain in precision before the Grid Search</a:t>
            </a: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6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This curve also helps us to avoid any case of overfitting by being vigilant of the difference between the CV score et the Train </a:t>
            </a:r>
            <a:r>
              <a:rPr lang="en-US" sz="1600" dirty="0" err="1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scoree</a:t>
            </a:r>
            <a:endParaRPr lang="en-US" sz="1600" dirty="0">
              <a:solidFill>
                <a:srgbClr val="44546A">
                  <a:lumMod val="75000"/>
                </a:srgbClr>
              </a:solidFill>
              <a:latin typeface="Calibri Light" panose="020F0302020204030204"/>
            </a:endParaRP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Sometimes, the validation curve shows us that a variable remains invariant: this is the case for the “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leaf_size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” du model KNN</a:t>
            </a: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6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We then drop this hyperparameter as its default value is already the best one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D8597204-D86E-4903-A2EE-7FC3146C5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5577" y="1001776"/>
            <a:ext cx="3937798" cy="8093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buClr>
                <a:schemeClr val="tx1"/>
              </a:buClr>
            </a:pPr>
            <a:r>
              <a:rPr lang="en-US" sz="4000" b="1" dirty="0">
                <a:solidFill>
                  <a:srgbClr val="FFFFFF"/>
                </a:solidFill>
              </a:rPr>
              <a:t>The training phase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221DF59-3BC5-4B70-A441-A341D3D04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393" y="3146821"/>
            <a:ext cx="3851556" cy="2474120"/>
          </a:xfrm>
          <a:prstGeom prst="rect">
            <a:avLst/>
          </a:prstGeom>
          <a:ln w="28575">
            <a:solidFill>
              <a:srgbClr val="3265BE"/>
            </a:solidFill>
          </a:ln>
        </p:spPr>
      </p:pic>
    </p:spTree>
    <p:extLst>
      <p:ext uri="{BB962C8B-B14F-4D97-AF65-F5344CB8AC3E}">
        <p14:creationId xmlns:p14="http://schemas.microsoft.com/office/powerpoint/2010/main" val="2720057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  <a:alpha val="90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F066C862-71D6-453B-8085-AFCF715B0F4F}"/>
              </a:ext>
            </a:extLst>
          </p:cNvPr>
          <p:cNvSpPr txBox="1">
            <a:spLocks/>
          </p:cNvSpPr>
          <p:nvPr/>
        </p:nvSpPr>
        <p:spPr>
          <a:xfrm>
            <a:off x="1251919" y="2034309"/>
            <a:ext cx="9363421" cy="4703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95601F42-C02A-4E8D-B0FB-89E5C3893A61}"/>
              </a:ext>
            </a:extLst>
          </p:cNvPr>
          <p:cNvSpPr txBox="1">
            <a:spLocks/>
          </p:cNvSpPr>
          <p:nvPr/>
        </p:nvSpPr>
        <p:spPr>
          <a:xfrm>
            <a:off x="1251919" y="2946103"/>
            <a:ext cx="7009475" cy="2879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marR="0" lvl="0" indent="-2857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0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The final test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6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The final test consists of testing every model on the test set</a:t>
            </a: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As</a:t>
            </a:r>
            <a:r>
              <a:rPr lang="en-US" sz="16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 we do so, we pick the best accuracy value representing the most efficient model</a:t>
            </a: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600" dirty="0">
                <a:solidFill>
                  <a:srgbClr val="44546A">
                    <a:lumMod val="75000"/>
                  </a:srgbClr>
                </a:solidFill>
                <a:latin typeface="Calibri Light" panose="020F0302020204030204"/>
              </a:rPr>
              <a:t>This model is the Random Forest with an impressive 99,95% accuracy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D8597204-D86E-4903-A2EE-7FC3146C5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9777" y="1001776"/>
            <a:ext cx="3067703" cy="8093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buClr>
                <a:schemeClr val="tx1"/>
              </a:buClr>
            </a:pPr>
            <a:r>
              <a:rPr lang="en-US" sz="4000" b="1" dirty="0">
                <a:solidFill>
                  <a:srgbClr val="FFFFFF"/>
                </a:solidFill>
              </a:rPr>
              <a:t>The final tests</a:t>
            </a:r>
          </a:p>
        </p:txBody>
      </p:sp>
    </p:spTree>
    <p:extLst>
      <p:ext uri="{BB962C8B-B14F-4D97-AF65-F5344CB8AC3E}">
        <p14:creationId xmlns:p14="http://schemas.microsoft.com/office/powerpoint/2010/main" val="1134262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  <a:alpha val="90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7217" y="1001776"/>
            <a:ext cx="1994518" cy="8093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buClr>
                <a:schemeClr val="tx1"/>
              </a:buClr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API Flask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F066C862-71D6-453B-8085-AFCF715B0F4F}"/>
              </a:ext>
            </a:extLst>
          </p:cNvPr>
          <p:cNvSpPr txBox="1">
            <a:spLocks/>
          </p:cNvSpPr>
          <p:nvPr/>
        </p:nvSpPr>
        <p:spPr>
          <a:xfrm>
            <a:off x="1251919" y="2034309"/>
            <a:ext cx="9363421" cy="4703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95601F42-C02A-4E8D-B0FB-89E5C3893A61}"/>
              </a:ext>
            </a:extLst>
          </p:cNvPr>
          <p:cNvSpPr txBox="1">
            <a:spLocks/>
          </p:cNvSpPr>
          <p:nvPr/>
        </p:nvSpPr>
        <p:spPr>
          <a:xfrm>
            <a:off x="1255762" y="2509120"/>
            <a:ext cx="7330889" cy="40745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marR="0" lvl="0" indent="-2857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Setting the API</a:t>
            </a: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Create new environment</a:t>
            </a: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Library: Flask, Bootstrap,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Wtform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How it works</a:t>
            </a: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Creates form where we add each variable</a:t>
            </a: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Check the validity of each variable</a:t>
            </a: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Use our model on the input variable</a:t>
            </a:r>
          </a:p>
          <a:p>
            <a:pPr marL="9715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Show the prediction</a:t>
            </a:r>
          </a:p>
          <a:p>
            <a:pPr marL="6858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88720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  <a:alpha val="90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8898" y="1001776"/>
            <a:ext cx="1689462" cy="8093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buClr>
                <a:schemeClr val="tx1"/>
              </a:buClr>
            </a:pPr>
            <a:r>
              <a:rPr lang="en-US" sz="4000" b="1" dirty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F066C862-71D6-453B-8085-AFCF715B0F4F}"/>
              </a:ext>
            </a:extLst>
          </p:cNvPr>
          <p:cNvSpPr txBox="1">
            <a:spLocks/>
          </p:cNvSpPr>
          <p:nvPr/>
        </p:nvSpPr>
        <p:spPr>
          <a:xfrm>
            <a:off x="1251919" y="2034309"/>
            <a:ext cx="9363421" cy="4703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95601F42-C02A-4E8D-B0FB-89E5C3893A61}"/>
              </a:ext>
            </a:extLst>
          </p:cNvPr>
          <p:cNvSpPr txBox="1">
            <a:spLocks/>
          </p:cNvSpPr>
          <p:nvPr/>
        </p:nvSpPr>
        <p:spPr>
          <a:xfrm>
            <a:off x="1642252" y="4537902"/>
            <a:ext cx="2885076" cy="17586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First page: Form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47483EB-C91F-4392-A560-1294E5BC8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919" y="2812887"/>
            <a:ext cx="3665743" cy="2268085"/>
          </a:xfrm>
          <a:prstGeom prst="rect">
            <a:avLst/>
          </a:prstGeom>
          <a:ln w="28575">
            <a:solidFill>
              <a:srgbClr val="3265BE"/>
            </a:solidFill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2474A95-F045-4066-9AB3-7F65095199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0349" y="2835875"/>
            <a:ext cx="5862569" cy="1881590"/>
          </a:xfrm>
          <a:prstGeom prst="rect">
            <a:avLst/>
          </a:prstGeom>
          <a:ln w="28575">
            <a:solidFill>
              <a:srgbClr val="3265BE"/>
            </a:solidFill>
          </a:ln>
        </p:spPr>
      </p:pic>
      <p:sp>
        <p:nvSpPr>
          <p:cNvPr id="17" name="Titre 1">
            <a:extLst>
              <a:ext uri="{FF2B5EF4-FFF2-40B4-BE49-F238E27FC236}">
                <a16:creationId xmlns:a16="http://schemas.microsoft.com/office/drawing/2014/main" id="{1F20F8C2-CDEB-4C8F-8315-B20A43BB06F4}"/>
              </a:ext>
            </a:extLst>
          </p:cNvPr>
          <p:cNvSpPr txBox="1">
            <a:spLocks/>
          </p:cNvSpPr>
          <p:nvPr/>
        </p:nvSpPr>
        <p:spPr>
          <a:xfrm>
            <a:off x="7145674" y="4320497"/>
            <a:ext cx="2885076" cy="17586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Second page: Result</a:t>
            </a:r>
          </a:p>
        </p:txBody>
      </p:sp>
    </p:spTree>
    <p:extLst>
      <p:ext uri="{BB962C8B-B14F-4D97-AF65-F5344CB8AC3E}">
        <p14:creationId xmlns:p14="http://schemas.microsoft.com/office/powerpoint/2010/main" val="2905732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831</Words>
  <Application>Microsoft Office PowerPoint</Application>
  <PresentationFormat>Grand écran</PresentationFormat>
  <Paragraphs>106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Calibri Light (En-têtes)</vt:lpstr>
      <vt:lpstr>Cambria Math</vt:lpstr>
      <vt:lpstr>Wingdings</vt:lpstr>
      <vt:lpstr>Office Theme</vt:lpstr>
      <vt:lpstr>Project report Python for Data Analysis</vt:lpstr>
      <vt:lpstr>Summary</vt:lpstr>
      <vt:lpstr>The initial assumptions</vt:lpstr>
      <vt:lpstr>State of the art</vt:lpstr>
      <vt:lpstr>Understand the dataset via the graphs</vt:lpstr>
      <vt:lpstr>Preprocessing</vt:lpstr>
      <vt:lpstr>The training phase</vt:lpstr>
      <vt:lpstr>The final tests</vt:lpstr>
      <vt:lpstr>API Flask</vt:lpstr>
      <vt:lpstr>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Suivi d’avancement du rapport « prédiction des flux touristiques »</dc:title>
  <dc:creator>quentin gabot</dc:creator>
  <cp:lastModifiedBy>quentin gabot</cp:lastModifiedBy>
  <cp:revision>13</cp:revision>
  <dcterms:created xsi:type="dcterms:W3CDTF">2021-01-10T19:57:00Z</dcterms:created>
  <dcterms:modified xsi:type="dcterms:W3CDTF">2021-01-10T22:59:39Z</dcterms:modified>
</cp:coreProperties>
</file>